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98" r:id="rId2"/>
    <p:sldId id="291" r:id="rId3"/>
    <p:sldId id="290" r:id="rId4"/>
    <p:sldId id="289" r:id="rId5"/>
    <p:sldId id="29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21CA49-4552-462D-B873-18B3BF7CB2B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CD84B719-02A9-4C66-A59F-202CD068FFC8}">
      <dgm:prSet phldrT="[Text]" phldr="0"/>
      <dgm:spPr/>
      <dgm:t>
        <a:bodyPr/>
        <a:lstStyle/>
        <a:p>
          <a:r>
            <a:rPr lang="en-US" dirty="0"/>
            <a:t>Generative AI Platform of choice</a:t>
          </a:r>
        </a:p>
      </dgm:t>
    </dgm:pt>
    <dgm:pt modelId="{4E5DBAF5-E5B1-47DA-8160-F7D4CD0C92CE}" type="parTrans" cxnId="{17B08914-C329-4A92-8E35-D930A6794576}">
      <dgm:prSet/>
      <dgm:spPr/>
      <dgm:t>
        <a:bodyPr/>
        <a:lstStyle/>
        <a:p>
          <a:endParaRPr lang="en-US"/>
        </a:p>
      </dgm:t>
    </dgm:pt>
    <dgm:pt modelId="{C39AF051-591A-4CF8-8E7D-D71405B244F9}" type="sibTrans" cxnId="{17B08914-C329-4A92-8E35-D930A6794576}">
      <dgm:prSet/>
      <dgm:spPr/>
      <dgm:t>
        <a:bodyPr/>
        <a:lstStyle/>
        <a:p>
          <a:endParaRPr lang="en-US"/>
        </a:p>
      </dgm:t>
    </dgm:pt>
    <dgm:pt modelId="{B538E990-7AFB-48DD-9EA7-99BB543B8BB9}">
      <dgm:prSet phldrT="[Text]" phldr="0"/>
      <dgm:spPr/>
      <dgm:t>
        <a:bodyPr/>
        <a:lstStyle/>
        <a:p>
          <a:r>
            <a:rPr lang="en-US" dirty="0"/>
            <a:t>e.g., Anthropic, OpenAI, Copilot, Gemini</a:t>
          </a:r>
        </a:p>
      </dgm:t>
    </dgm:pt>
    <dgm:pt modelId="{272CF9F5-D523-4386-9B2F-2C87056B5392}" type="parTrans" cxnId="{6DD512BB-A441-4117-B6CF-016C1FCE7D51}">
      <dgm:prSet/>
      <dgm:spPr/>
      <dgm:t>
        <a:bodyPr/>
        <a:lstStyle/>
        <a:p>
          <a:endParaRPr lang="en-US"/>
        </a:p>
      </dgm:t>
    </dgm:pt>
    <dgm:pt modelId="{C07B0A74-1333-4EFF-951E-E94C1E299F26}" type="sibTrans" cxnId="{6DD512BB-A441-4117-B6CF-016C1FCE7D51}">
      <dgm:prSet/>
      <dgm:spPr/>
      <dgm:t>
        <a:bodyPr/>
        <a:lstStyle/>
        <a:p>
          <a:endParaRPr lang="en-US"/>
        </a:p>
      </dgm:t>
    </dgm:pt>
    <dgm:pt modelId="{471D608B-29B6-4409-8B71-66024861F5BE}">
      <dgm:prSet phldrT="[Text]" phldr="0"/>
      <dgm:spPr/>
      <dgm:t>
        <a:bodyPr/>
        <a:lstStyle/>
        <a:p>
          <a:r>
            <a:rPr lang="en-US" dirty="0"/>
            <a:t>Positron R console/IDE</a:t>
          </a:r>
        </a:p>
      </dgm:t>
    </dgm:pt>
    <dgm:pt modelId="{2C52DE72-3865-4EAC-A775-3C6B5CD44287}" type="parTrans" cxnId="{9DCF22A7-C2EA-475E-8644-EC757027A850}">
      <dgm:prSet/>
      <dgm:spPr/>
      <dgm:t>
        <a:bodyPr/>
        <a:lstStyle/>
        <a:p>
          <a:endParaRPr lang="en-US"/>
        </a:p>
      </dgm:t>
    </dgm:pt>
    <dgm:pt modelId="{AEA333FC-4B6C-4ED4-889F-3CE342A6066B}" type="sibTrans" cxnId="{9DCF22A7-C2EA-475E-8644-EC757027A850}">
      <dgm:prSet/>
      <dgm:spPr/>
      <dgm:t>
        <a:bodyPr/>
        <a:lstStyle/>
        <a:p>
          <a:endParaRPr lang="en-US"/>
        </a:p>
      </dgm:t>
    </dgm:pt>
    <dgm:pt modelId="{47D25753-DB66-4677-9D8B-240A32683EC2}">
      <dgm:prSet phldrT="[Text]" phldr="0"/>
      <dgm:spPr/>
      <dgm:t>
        <a:bodyPr/>
        <a:lstStyle/>
        <a:p>
          <a:r>
            <a:rPr lang="en-US" dirty="0"/>
            <a:t>For app building</a:t>
          </a:r>
        </a:p>
      </dgm:t>
    </dgm:pt>
    <dgm:pt modelId="{84E64138-CDFD-47FE-842A-38A4F477DFE4}" type="parTrans" cxnId="{7852E7FE-F7ED-42F2-A983-BEBF866F7950}">
      <dgm:prSet/>
      <dgm:spPr/>
      <dgm:t>
        <a:bodyPr/>
        <a:lstStyle/>
        <a:p>
          <a:endParaRPr lang="en-US"/>
        </a:p>
      </dgm:t>
    </dgm:pt>
    <dgm:pt modelId="{B6759F7A-314E-4CA0-AD74-B8CFADB8F450}" type="sibTrans" cxnId="{7852E7FE-F7ED-42F2-A983-BEBF866F7950}">
      <dgm:prSet/>
      <dgm:spPr/>
      <dgm:t>
        <a:bodyPr/>
        <a:lstStyle/>
        <a:p>
          <a:endParaRPr lang="en-US"/>
        </a:p>
      </dgm:t>
    </dgm:pt>
    <dgm:pt modelId="{20188D4C-7714-4CD1-A518-05BFC07F4F3B}">
      <dgm:prSet phldrT="[Text]" phldr="0"/>
      <dgm:spPr/>
      <dgm:t>
        <a:bodyPr/>
        <a:lstStyle/>
        <a:p>
          <a:r>
            <a:rPr lang="en-US" dirty="0"/>
            <a:t>Posit Connect Cloud</a:t>
          </a:r>
        </a:p>
      </dgm:t>
    </dgm:pt>
    <dgm:pt modelId="{1922FD63-6092-4C92-9EE3-6B553BD0659D}" type="parTrans" cxnId="{793C4917-595B-471C-A5D7-03D27444BBF2}">
      <dgm:prSet/>
      <dgm:spPr/>
      <dgm:t>
        <a:bodyPr/>
        <a:lstStyle/>
        <a:p>
          <a:endParaRPr lang="en-US"/>
        </a:p>
      </dgm:t>
    </dgm:pt>
    <dgm:pt modelId="{B34CDF1C-6701-4157-AF6D-742C36BEF7FB}" type="sibTrans" cxnId="{793C4917-595B-471C-A5D7-03D27444BBF2}">
      <dgm:prSet/>
      <dgm:spPr/>
      <dgm:t>
        <a:bodyPr/>
        <a:lstStyle/>
        <a:p>
          <a:endParaRPr lang="en-US"/>
        </a:p>
      </dgm:t>
    </dgm:pt>
    <dgm:pt modelId="{2ED89871-EE03-4FC6-ACEE-059539BC073A}">
      <dgm:prSet phldrT="[Text]" phldr="0"/>
      <dgm:spPr/>
      <dgm:t>
        <a:bodyPr/>
        <a:lstStyle/>
        <a:p>
          <a:r>
            <a:rPr lang="en-US" dirty="0"/>
            <a:t>For app deployment </a:t>
          </a:r>
        </a:p>
      </dgm:t>
    </dgm:pt>
    <dgm:pt modelId="{D9D9A0C1-FD7D-414E-AC18-0961D079EC23}" type="parTrans" cxnId="{6C47003A-4B76-4B6C-8BF5-F2EC1EFEAC8B}">
      <dgm:prSet/>
      <dgm:spPr/>
      <dgm:t>
        <a:bodyPr/>
        <a:lstStyle/>
        <a:p>
          <a:endParaRPr lang="en-US"/>
        </a:p>
      </dgm:t>
    </dgm:pt>
    <dgm:pt modelId="{D15E1219-5A5E-4DF9-8524-79F42B8264F2}" type="sibTrans" cxnId="{6C47003A-4B76-4B6C-8BF5-F2EC1EFEAC8B}">
      <dgm:prSet/>
      <dgm:spPr/>
      <dgm:t>
        <a:bodyPr/>
        <a:lstStyle/>
        <a:p>
          <a:endParaRPr lang="en-US"/>
        </a:p>
      </dgm:t>
    </dgm:pt>
    <dgm:pt modelId="{55DF604B-6B69-44B7-AD23-BB39D11B55D4}">
      <dgm:prSet phldrT="[Text]" phldr="0"/>
      <dgm:spPr/>
      <dgm:t>
        <a:bodyPr/>
        <a:lstStyle/>
        <a:p>
          <a:endParaRPr lang="en-US" dirty="0"/>
        </a:p>
      </dgm:t>
    </dgm:pt>
    <dgm:pt modelId="{3267CAEF-0718-41EE-A354-F55457F5F7E5}" type="parTrans" cxnId="{7F4CB1A6-0B4B-487E-83E8-D2C2450A96DE}">
      <dgm:prSet/>
      <dgm:spPr/>
      <dgm:t>
        <a:bodyPr/>
        <a:lstStyle/>
        <a:p>
          <a:endParaRPr lang="en-US"/>
        </a:p>
      </dgm:t>
    </dgm:pt>
    <dgm:pt modelId="{2FF3E986-D102-494D-AD1D-5DE70DFF1803}" type="sibTrans" cxnId="{7F4CB1A6-0B4B-487E-83E8-D2C2450A96DE}">
      <dgm:prSet/>
      <dgm:spPr/>
      <dgm:t>
        <a:bodyPr/>
        <a:lstStyle/>
        <a:p>
          <a:endParaRPr lang="en-US"/>
        </a:p>
      </dgm:t>
    </dgm:pt>
    <dgm:pt modelId="{1CD3D894-C967-4FB7-89B6-96AE40F3F4A8}" type="pres">
      <dgm:prSet presAssocID="{9521CA49-4552-462D-B873-18B3BF7CB2B2}" presName="linear" presStyleCnt="0">
        <dgm:presLayoutVars>
          <dgm:dir/>
          <dgm:resizeHandles val="exact"/>
        </dgm:presLayoutVars>
      </dgm:prSet>
      <dgm:spPr/>
    </dgm:pt>
    <dgm:pt modelId="{E3E2CBFA-41F8-4D34-9DE4-0BD57996C670}" type="pres">
      <dgm:prSet presAssocID="{CD84B719-02A9-4C66-A59F-202CD068FFC8}" presName="comp" presStyleCnt="0"/>
      <dgm:spPr/>
    </dgm:pt>
    <dgm:pt modelId="{8B3BA32B-B66A-43CA-BF56-5B222F34F3FE}" type="pres">
      <dgm:prSet presAssocID="{CD84B719-02A9-4C66-A59F-202CD068FFC8}" presName="box" presStyleLbl="node1" presStyleIdx="0" presStyleCnt="3"/>
      <dgm:spPr/>
    </dgm:pt>
    <dgm:pt modelId="{CA13913F-2A79-4473-A871-F830131233DE}" type="pres">
      <dgm:prSet presAssocID="{CD84B719-02A9-4C66-A59F-202CD068FFC8}" presName="img" presStyleLbl="f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t="-47000" b="-47000"/>
          </a:stretch>
        </a:blipFill>
      </dgm:spPr>
      <dgm:extLst>
        <a:ext uri="{E40237B7-FDA0-4F09-8148-C483321AD2D9}">
          <dgm14:cNvPr xmlns:dgm14="http://schemas.microsoft.com/office/drawing/2010/diagram" id="0" name="" descr="Artificial Intelligence outline"/>
        </a:ext>
      </dgm:extLst>
    </dgm:pt>
    <dgm:pt modelId="{D69661D7-8478-473A-8170-811CBE9783C5}" type="pres">
      <dgm:prSet presAssocID="{CD84B719-02A9-4C66-A59F-202CD068FFC8}" presName="text" presStyleLbl="node1" presStyleIdx="0" presStyleCnt="3">
        <dgm:presLayoutVars>
          <dgm:bulletEnabled val="1"/>
        </dgm:presLayoutVars>
      </dgm:prSet>
      <dgm:spPr/>
    </dgm:pt>
    <dgm:pt modelId="{24A7B02F-1476-4D7B-B809-8559A417B8F1}" type="pres">
      <dgm:prSet presAssocID="{C39AF051-591A-4CF8-8E7D-D71405B244F9}" presName="spacer" presStyleCnt="0"/>
      <dgm:spPr/>
    </dgm:pt>
    <dgm:pt modelId="{5B8C3BB0-B0F3-442C-B471-901F1D254F4B}" type="pres">
      <dgm:prSet presAssocID="{471D608B-29B6-4409-8B71-66024861F5BE}" presName="comp" presStyleCnt="0"/>
      <dgm:spPr/>
    </dgm:pt>
    <dgm:pt modelId="{7EBCAFCD-7D96-4A67-A9D9-EBF0254AA0B0}" type="pres">
      <dgm:prSet presAssocID="{471D608B-29B6-4409-8B71-66024861F5BE}" presName="box" presStyleLbl="node1" presStyleIdx="1" presStyleCnt="3"/>
      <dgm:spPr/>
    </dgm:pt>
    <dgm:pt modelId="{47DB331A-038E-46C0-AD19-9E7CA2F4EBB5}" type="pres">
      <dgm:prSet presAssocID="{471D608B-29B6-4409-8B71-66024861F5BE}" presName="img" presStyleLbl="fgImgPlace1" presStyleIdx="1" presStyleCnt="3"/>
      <dgm:spPr>
        <a:blipFill>
          <a:blip xmlns:r="http://schemas.openxmlformats.org/officeDocument/2006/relationships" r:embed="rId2"/>
          <a:srcRect/>
          <a:stretch>
            <a:fillRect t="-51000" b="-51000"/>
          </a:stretch>
        </a:blipFill>
      </dgm:spPr>
    </dgm:pt>
    <dgm:pt modelId="{171A7F99-F0C8-4FDA-BC40-415E8485B6DF}" type="pres">
      <dgm:prSet presAssocID="{471D608B-29B6-4409-8B71-66024861F5BE}" presName="text" presStyleLbl="node1" presStyleIdx="1" presStyleCnt="3">
        <dgm:presLayoutVars>
          <dgm:bulletEnabled val="1"/>
        </dgm:presLayoutVars>
      </dgm:prSet>
      <dgm:spPr/>
    </dgm:pt>
    <dgm:pt modelId="{30C31314-134B-4C4D-B1F9-BA3FD53F37A5}" type="pres">
      <dgm:prSet presAssocID="{AEA333FC-4B6C-4ED4-889F-3CE342A6066B}" presName="spacer" presStyleCnt="0"/>
      <dgm:spPr/>
    </dgm:pt>
    <dgm:pt modelId="{DFDCA83E-017E-4B53-9D18-9FA59AE23BA8}" type="pres">
      <dgm:prSet presAssocID="{20188D4C-7714-4CD1-A518-05BFC07F4F3B}" presName="comp" presStyleCnt="0"/>
      <dgm:spPr/>
    </dgm:pt>
    <dgm:pt modelId="{A745A1BB-AF77-4A94-848D-A70786E63244}" type="pres">
      <dgm:prSet presAssocID="{20188D4C-7714-4CD1-A518-05BFC07F4F3B}" presName="box" presStyleLbl="node1" presStyleIdx="2" presStyleCnt="3"/>
      <dgm:spPr/>
    </dgm:pt>
    <dgm:pt modelId="{D33CF1FB-8AED-4BF3-A4E2-DA1900C30FBB}" type="pres">
      <dgm:prSet presAssocID="{20188D4C-7714-4CD1-A518-05BFC07F4F3B}" presName="img" presStyleLbl="fgImgPlace1" presStyleIdx="2" presStyleCnt="3"/>
      <dgm:spPr>
        <a:blipFill>
          <a:blip xmlns:r="http://schemas.openxmlformats.org/officeDocument/2006/relationships" r:embed="rId3"/>
          <a:srcRect/>
          <a:stretch>
            <a:fillRect t="-41000" b="-41000"/>
          </a:stretch>
        </a:blipFill>
      </dgm:spPr>
    </dgm:pt>
    <dgm:pt modelId="{C158FD37-00A8-4518-95B9-4EA3F3579921}" type="pres">
      <dgm:prSet presAssocID="{20188D4C-7714-4CD1-A518-05BFC07F4F3B}" presName="text" presStyleLbl="node1" presStyleIdx="2" presStyleCnt="3">
        <dgm:presLayoutVars>
          <dgm:bulletEnabled val="1"/>
        </dgm:presLayoutVars>
      </dgm:prSet>
      <dgm:spPr/>
    </dgm:pt>
  </dgm:ptLst>
  <dgm:cxnLst>
    <dgm:cxn modelId="{54B1FA0B-B7B8-43E0-8479-4B467C974F0B}" type="presOf" srcId="{55DF604B-6B69-44B7-AD23-BB39D11B55D4}" destId="{D69661D7-8478-473A-8170-811CBE9783C5}" srcOrd="1" destOrd="2" presId="urn:microsoft.com/office/officeart/2005/8/layout/vList4"/>
    <dgm:cxn modelId="{17B08914-C329-4A92-8E35-D930A6794576}" srcId="{9521CA49-4552-462D-B873-18B3BF7CB2B2}" destId="{CD84B719-02A9-4C66-A59F-202CD068FFC8}" srcOrd="0" destOrd="0" parTransId="{4E5DBAF5-E5B1-47DA-8160-F7D4CD0C92CE}" sibTransId="{C39AF051-591A-4CF8-8E7D-D71405B244F9}"/>
    <dgm:cxn modelId="{C54A2915-46EA-4475-BA5B-547B8D3C9A68}" type="presOf" srcId="{9521CA49-4552-462D-B873-18B3BF7CB2B2}" destId="{1CD3D894-C967-4FB7-89B6-96AE40F3F4A8}" srcOrd="0" destOrd="0" presId="urn:microsoft.com/office/officeart/2005/8/layout/vList4"/>
    <dgm:cxn modelId="{793C4917-595B-471C-A5D7-03D27444BBF2}" srcId="{9521CA49-4552-462D-B873-18B3BF7CB2B2}" destId="{20188D4C-7714-4CD1-A518-05BFC07F4F3B}" srcOrd="2" destOrd="0" parTransId="{1922FD63-6092-4C92-9EE3-6B553BD0659D}" sibTransId="{B34CDF1C-6701-4157-AF6D-742C36BEF7FB}"/>
    <dgm:cxn modelId="{B6B0CC2B-7AC2-44AE-BA48-D0F12B69778D}" type="presOf" srcId="{471D608B-29B6-4409-8B71-66024861F5BE}" destId="{171A7F99-F0C8-4FDA-BC40-415E8485B6DF}" srcOrd="1" destOrd="0" presId="urn:microsoft.com/office/officeart/2005/8/layout/vList4"/>
    <dgm:cxn modelId="{DDA98F31-3955-4529-B327-0294BC91247D}" type="presOf" srcId="{20188D4C-7714-4CD1-A518-05BFC07F4F3B}" destId="{C158FD37-00A8-4518-95B9-4EA3F3579921}" srcOrd="1" destOrd="0" presId="urn:microsoft.com/office/officeart/2005/8/layout/vList4"/>
    <dgm:cxn modelId="{6C47003A-4B76-4B6C-8BF5-F2EC1EFEAC8B}" srcId="{20188D4C-7714-4CD1-A518-05BFC07F4F3B}" destId="{2ED89871-EE03-4FC6-ACEE-059539BC073A}" srcOrd="0" destOrd="0" parTransId="{D9D9A0C1-FD7D-414E-AC18-0961D079EC23}" sibTransId="{D15E1219-5A5E-4DF9-8524-79F42B8264F2}"/>
    <dgm:cxn modelId="{8E3A193B-D62D-4649-A917-E68899FBC75F}" type="presOf" srcId="{CD84B719-02A9-4C66-A59F-202CD068FFC8}" destId="{D69661D7-8478-473A-8170-811CBE9783C5}" srcOrd="1" destOrd="0" presId="urn:microsoft.com/office/officeart/2005/8/layout/vList4"/>
    <dgm:cxn modelId="{C3CD273E-ED41-4751-9643-2B424E7521D4}" type="presOf" srcId="{47D25753-DB66-4677-9D8B-240A32683EC2}" destId="{171A7F99-F0C8-4FDA-BC40-415E8485B6DF}" srcOrd="1" destOrd="1" presId="urn:microsoft.com/office/officeart/2005/8/layout/vList4"/>
    <dgm:cxn modelId="{E80D645E-F534-4C0E-AF9A-5DD5F2DEEEC8}" type="presOf" srcId="{471D608B-29B6-4409-8B71-66024861F5BE}" destId="{7EBCAFCD-7D96-4A67-A9D9-EBF0254AA0B0}" srcOrd="0" destOrd="0" presId="urn:microsoft.com/office/officeart/2005/8/layout/vList4"/>
    <dgm:cxn modelId="{9101724F-8A84-4772-815F-230A96F9C1BD}" type="presOf" srcId="{CD84B719-02A9-4C66-A59F-202CD068FFC8}" destId="{8B3BA32B-B66A-43CA-BF56-5B222F34F3FE}" srcOrd="0" destOrd="0" presId="urn:microsoft.com/office/officeart/2005/8/layout/vList4"/>
    <dgm:cxn modelId="{BB77824F-3C0F-4A51-9E49-C55B3706A322}" type="presOf" srcId="{B538E990-7AFB-48DD-9EA7-99BB543B8BB9}" destId="{D69661D7-8478-473A-8170-811CBE9783C5}" srcOrd="1" destOrd="1" presId="urn:microsoft.com/office/officeart/2005/8/layout/vList4"/>
    <dgm:cxn modelId="{DF169476-1187-441A-988B-3CAD62DD435D}" type="presOf" srcId="{20188D4C-7714-4CD1-A518-05BFC07F4F3B}" destId="{A745A1BB-AF77-4A94-848D-A70786E63244}" srcOrd="0" destOrd="0" presId="urn:microsoft.com/office/officeart/2005/8/layout/vList4"/>
    <dgm:cxn modelId="{039FEE79-776E-4304-8545-4FD77FA7BB6A}" type="presOf" srcId="{47D25753-DB66-4677-9D8B-240A32683EC2}" destId="{7EBCAFCD-7D96-4A67-A9D9-EBF0254AA0B0}" srcOrd="0" destOrd="1" presId="urn:microsoft.com/office/officeart/2005/8/layout/vList4"/>
    <dgm:cxn modelId="{7F4CB1A6-0B4B-487E-83E8-D2C2450A96DE}" srcId="{CD84B719-02A9-4C66-A59F-202CD068FFC8}" destId="{55DF604B-6B69-44B7-AD23-BB39D11B55D4}" srcOrd="1" destOrd="0" parTransId="{3267CAEF-0718-41EE-A354-F55457F5F7E5}" sibTransId="{2FF3E986-D102-494D-AD1D-5DE70DFF1803}"/>
    <dgm:cxn modelId="{9DCF22A7-C2EA-475E-8644-EC757027A850}" srcId="{9521CA49-4552-462D-B873-18B3BF7CB2B2}" destId="{471D608B-29B6-4409-8B71-66024861F5BE}" srcOrd="1" destOrd="0" parTransId="{2C52DE72-3865-4EAC-A775-3C6B5CD44287}" sibTransId="{AEA333FC-4B6C-4ED4-889F-3CE342A6066B}"/>
    <dgm:cxn modelId="{6DD512BB-A441-4117-B6CF-016C1FCE7D51}" srcId="{CD84B719-02A9-4C66-A59F-202CD068FFC8}" destId="{B538E990-7AFB-48DD-9EA7-99BB543B8BB9}" srcOrd="0" destOrd="0" parTransId="{272CF9F5-D523-4386-9B2F-2C87056B5392}" sibTransId="{C07B0A74-1333-4EFF-951E-E94C1E299F26}"/>
    <dgm:cxn modelId="{96C53FC6-64E5-486F-AA31-DA11C34A810B}" type="presOf" srcId="{55DF604B-6B69-44B7-AD23-BB39D11B55D4}" destId="{8B3BA32B-B66A-43CA-BF56-5B222F34F3FE}" srcOrd="0" destOrd="2" presId="urn:microsoft.com/office/officeart/2005/8/layout/vList4"/>
    <dgm:cxn modelId="{7E0660DA-94CE-47FD-BB3F-0EF20602562D}" type="presOf" srcId="{2ED89871-EE03-4FC6-ACEE-059539BC073A}" destId="{C158FD37-00A8-4518-95B9-4EA3F3579921}" srcOrd="1" destOrd="1" presId="urn:microsoft.com/office/officeart/2005/8/layout/vList4"/>
    <dgm:cxn modelId="{B5F889E3-9681-478E-AB8E-D56F6C2E936B}" type="presOf" srcId="{B538E990-7AFB-48DD-9EA7-99BB543B8BB9}" destId="{8B3BA32B-B66A-43CA-BF56-5B222F34F3FE}" srcOrd="0" destOrd="1" presId="urn:microsoft.com/office/officeart/2005/8/layout/vList4"/>
    <dgm:cxn modelId="{D63D8FEB-6144-4301-ACA5-0FCAF1DE826B}" type="presOf" srcId="{2ED89871-EE03-4FC6-ACEE-059539BC073A}" destId="{A745A1BB-AF77-4A94-848D-A70786E63244}" srcOrd="0" destOrd="1" presId="urn:microsoft.com/office/officeart/2005/8/layout/vList4"/>
    <dgm:cxn modelId="{7852E7FE-F7ED-42F2-A983-BEBF866F7950}" srcId="{471D608B-29B6-4409-8B71-66024861F5BE}" destId="{47D25753-DB66-4677-9D8B-240A32683EC2}" srcOrd="0" destOrd="0" parTransId="{84E64138-CDFD-47FE-842A-38A4F477DFE4}" sibTransId="{B6759F7A-314E-4CA0-AD74-B8CFADB8F450}"/>
    <dgm:cxn modelId="{F87497C8-A2EC-47C5-AAAC-89BA259EC2F7}" type="presParOf" srcId="{1CD3D894-C967-4FB7-89B6-96AE40F3F4A8}" destId="{E3E2CBFA-41F8-4D34-9DE4-0BD57996C670}" srcOrd="0" destOrd="0" presId="urn:microsoft.com/office/officeart/2005/8/layout/vList4"/>
    <dgm:cxn modelId="{19BC4F52-A04F-4EF2-BA48-8D7EBC8F6017}" type="presParOf" srcId="{E3E2CBFA-41F8-4D34-9DE4-0BD57996C670}" destId="{8B3BA32B-B66A-43CA-BF56-5B222F34F3FE}" srcOrd="0" destOrd="0" presId="urn:microsoft.com/office/officeart/2005/8/layout/vList4"/>
    <dgm:cxn modelId="{DAC9D21F-F44B-4B8A-A133-54026F52215D}" type="presParOf" srcId="{E3E2CBFA-41F8-4D34-9DE4-0BD57996C670}" destId="{CA13913F-2A79-4473-A871-F830131233DE}" srcOrd="1" destOrd="0" presId="urn:microsoft.com/office/officeart/2005/8/layout/vList4"/>
    <dgm:cxn modelId="{844262FA-992E-41F0-A50C-65ABE7978707}" type="presParOf" srcId="{E3E2CBFA-41F8-4D34-9DE4-0BD57996C670}" destId="{D69661D7-8478-473A-8170-811CBE9783C5}" srcOrd="2" destOrd="0" presId="urn:microsoft.com/office/officeart/2005/8/layout/vList4"/>
    <dgm:cxn modelId="{3BC06E21-02DE-4652-A8AC-35609657850C}" type="presParOf" srcId="{1CD3D894-C967-4FB7-89B6-96AE40F3F4A8}" destId="{24A7B02F-1476-4D7B-B809-8559A417B8F1}" srcOrd="1" destOrd="0" presId="urn:microsoft.com/office/officeart/2005/8/layout/vList4"/>
    <dgm:cxn modelId="{2A02ED52-AF13-4AF3-95D6-A797C88D30F4}" type="presParOf" srcId="{1CD3D894-C967-4FB7-89B6-96AE40F3F4A8}" destId="{5B8C3BB0-B0F3-442C-B471-901F1D254F4B}" srcOrd="2" destOrd="0" presId="urn:microsoft.com/office/officeart/2005/8/layout/vList4"/>
    <dgm:cxn modelId="{13C94096-24E5-45DE-B107-E471191DECFD}" type="presParOf" srcId="{5B8C3BB0-B0F3-442C-B471-901F1D254F4B}" destId="{7EBCAFCD-7D96-4A67-A9D9-EBF0254AA0B0}" srcOrd="0" destOrd="0" presId="urn:microsoft.com/office/officeart/2005/8/layout/vList4"/>
    <dgm:cxn modelId="{C23004C9-513B-4033-AAB1-EA61D7E96964}" type="presParOf" srcId="{5B8C3BB0-B0F3-442C-B471-901F1D254F4B}" destId="{47DB331A-038E-46C0-AD19-9E7CA2F4EBB5}" srcOrd="1" destOrd="0" presId="urn:microsoft.com/office/officeart/2005/8/layout/vList4"/>
    <dgm:cxn modelId="{F0132BAA-65B8-4837-9097-390179C9A1AA}" type="presParOf" srcId="{5B8C3BB0-B0F3-442C-B471-901F1D254F4B}" destId="{171A7F99-F0C8-4FDA-BC40-415E8485B6DF}" srcOrd="2" destOrd="0" presId="urn:microsoft.com/office/officeart/2005/8/layout/vList4"/>
    <dgm:cxn modelId="{6D41AD3A-014E-4A91-A99E-F1629EC40D60}" type="presParOf" srcId="{1CD3D894-C967-4FB7-89B6-96AE40F3F4A8}" destId="{30C31314-134B-4C4D-B1F9-BA3FD53F37A5}" srcOrd="3" destOrd="0" presId="urn:microsoft.com/office/officeart/2005/8/layout/vList4"/>
    <dgm:cxn modelId="{9A1C888C-FA25-4161-8225-2F309AF69A94}" type="presParOf" srcId="{1CD3D894-C967-4FB7-89B6-96AE40F3F4A8}" destId="{DFDCA83E-017E-4B53-9D18-9FA59AE23BA8}" srcOrd="4" destOrd="0" presId="urn:microsoft.com/office/officeart/2005/8/layout/vList4"/>
    <dgm:cxn modelId="{C9D79E94-2DB5-46D6-9D00-9B2641B73443}" type="presParOf" srcId="{DFDCA83E-017E-4B53-9D18-9FA59AE23BA8}" destId="{A745A1BB-AF77-4A94-848D-A70786E63244}" srcOrd="0" destOrd="0" presId="urn:microsoft.com/office/officeart/2005/8/layout/vList4"/>
    <dgm:cxn modelId="{B0C0F755-7518-4470-B4E9-5BC568718AD3}" type="presParOf" srcId="{DFDCA83E-017E-4B53-9D18-9FA59AE23BA8}" destId="{D33CF1FB-8AED-4BF3-A4E2-DA1900C30FBB}" srcOrd="1" destOrd="0" presId="urn:microsoft.com/office/officeart/2005/8/layout/vList4"/>
    <dgm:cxn modelId="{362031D8-CFFD-45AA-95C9-483A3B49DA9E}" type="presParOf" srcId="{DFDCA83E-017E-4B53-9D18-9FA59AE23BA8}" destId="{C158FD37-00A8-4518-95B9-4EA3F3579921}"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BA32B-B66A-43CA-BF56-5B222F34F3FE}">
      <dsp:nvSpPr>
        <dsp:cNvPr id="0" name=""/>
        <dsp:cNvSpPr/>
      </dsp:nvSpPr>
      <dsp:spPr>
        <a:xfrm>
          <a:off x="0" y="0"/>
          <a:ext cx="10515600" cy="135979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Generative AI Platform of choice</a:t>
          </a:r>
        </a:p>
        <a:p>
          <a:pPr marL="228600" lvl="1" indent="-228600" algn="l" defTabSz="889000">
            <a:lnSpc>
              <a:spcPct val="90000"/>
            </a:lnSpc>
            <a:spcBef>
              <a:spcPct val="0"/>
            </a:spcBef>
            <a:spcAft>
              <a:spcPct val="15000"/>
            </a:spcAft>
            <a:buChar char="•"/>
          </a:pPr>
          <a:r>
            <a:rPr lang="en-US" sz="2000" kern="1200" dirty="0"/>
            <a:t>e.g., Anthropic, OpenAI, Copilot, Gemini</a:t>
          </a:r>
        </a:p>
        <a:p>
          <a:pPr marL="228600" lvl="1" indent="-228600" algn="l" defTabSz="889000">
            <a:lnSpc>
              <a:spcPct val="90000"/>
            </a:lnSpc>
            <a:spcBef>
              <a:spcPct val="0"/>
            </a:spcBef>
            <a:spcAft>
              <a:spcPct val="15000"/>
            </a:spcAft>
            <a:buChar char="•"/>
          </a:pPr>
          <a:endParaRPr lang="en-US" sz="2000" kern="1200" dirty="0"/>
        </a:p>
      </dsp:txBody>
      <dsp:txXfrm>
        <a:off x="2239099" y="0"/>
        <a:ext cx="8276500" cy="1359793"/>
      </dsp:txXfrm>
    </dsp:sp>
    <dsp:sp modelId="{CA13913F-2A79-4473-A871-F830131233DE}">
      <dsp:nvSpPr>
        <dsp:cNvPr id="0" name=""/>
        <dsp:cNvSpPr/>
      </dsp:nvSpPr>
      <dsp:spPr>
        <a:xfrm>
          <a:off x="135979" y="135979"/>
          <a:ext cx="2103120" cy="10878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47000" b="-4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BCAFCD-7D96-4A67-A9D9-EBF0254AA0B0}">
      <dsp:nvSpPr>
        <dsp:cNvPr id="0" name=""/>
        <dsp:cNvSpPr/>
      </dsp:nvSpPr>
      <dsp:spPr>
        <a:xfrm>
          <a:off x="0" y="1495772"/>
          <a:ext cx="10515600" cy="135979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Positron R console/IDE</a:t>
          </a:r>
        </a:p>
        <a:p>
          <a:pPr marL="228600" lvl="1" indent="-228600" algn="l" defTabSz="889000">
            <a:lnSpc>
              <a:spcPct val="90000"/>
            </a:lnSpc>
            <a:spcBef>
              <a:spcPct val="0"/>
            </a:spcBef>
            <a:spcAft>
              <a:spcPct val="15000"/>
            </a:spcAft>
            <a:buChar char="•"/>
          </a:pPr>
          <a:r>
            <a:rPr lang="en-US" sz="2000" kern="1200" dirty="0"/>
            <a:t>For app building</a:t>
          </a:r>
        </a:p>
      </dsp:txBody>
      <dsp:txXfrm>
        <a:off x="2239099" y="1495772"/>
        <a:ext cx="8276500" cy="1359793"/>
      </dsp:txXfrm>
    </dsp:sp>
    <dsp:sp modelId="{47DB331A-038E-46C0-AD19-9E7CA2F4EBB5}">
      <dsp:nvSpPr>
        <dsp:cNvPr id="0" name=""/>
        <dsp:cNvSpPr/>
      </dsp:nvSpPr>
      <dsp:spPr>
        <a:xfrm>
          <a:off x="135979" y="1631751"/>
          <a:ext cx="2103120" cy="1087834"/>
        </a:xfrm>
        <a:prstGeom prst="roundRect">
          <a:avLst>
            <a:gd name="adj" fmla="val 10000"/>
          </a:avLst>
        </a:prstGeom>
        <a:blipFill>
          <a:blip xmlns:r="http://schemas.openxmlformats.org/officeDocument/2006/relationships" r:embed="rId2"/>
          <a:srcRect/>
          <a:stretch>
            <a:fillRect t="-51000" b="-5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45A1BB-AF77-4A94-848D-A70786E63244}">
      <dsp:nvSpPr>
        <dsp:cNvPr id="0" name=""/>
        <dsp:cNvSpPr/>
      </dsp:nvSpPr>
      <dsp:spPr>
        <a:xfrm>
          <a:off x="0" y="2991544"/>
          <a:ext cx="10515600" cy="135979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Posit Connect Cloud</a:t>
          </a:r>
        </a:p>
        <a:p>
          <a:pPr marL="228600" lvl="1" indent="-228600" algn="l" defTabSz="889000">
            <a:lnSpc>
              <a:spcPct val="90000"/>
            </a:lnSpc>
            <a:spcBef>
              <a:spcPct val="0"/>
            </a:spcBef>
            <a:spcAft>
              <a:spcPct val="15000"/>
            </a:spcAft>
            <a:buChar char="•"/>
          </a:pPr>
          <a:r>
            <a:rPr lang="en-US" sz="2000" kern="1200" dirty="0"/>
            <a:t>For app deployment </a:t>
          </a:r>
        </a:p>
      </dsp:txBody>
      <dsp:txXfrm>
        <a:off x="2239099" y="2991544"/>
        <a:ext cx="8276500" cy="1359793"/>
      </dsp:txXfrm>
    </dsp:sp>
    <dsp:sp modelId="{D33CF1FB-8AED-4BF3-A4E2-DA1900C30FBB}">
      <dsp:nvSpPr>
        <dsp:cNvPr id="0" name=""/>
        <dsp:cNvSpPr/>
      </dsp:nvSpPr>
      <dsp:spPr>
        <a:xfrm>
          <a:off x="135979" y="3127524"/>
          <a:ext cx="2103120" cy="1087834"/>
        </a:xfrm>
        <a:prstGeom prst="roundRect">
          <a:avLst>
            <a:gd name="adj" fmla="val 10000"/>
          </a:avLst>
        </a:prstGeom>
        <a:blipFill>
          <a:blip xmlns:r="http://schemas.openxmlformats.org/officeDocument/2006/relationships" r:embed="rId3"/>
          <a:srcRect/>
          <a:stretch>
            <a:fillRect t="-41000" b="-4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301F6-C862-45A1-BC0C-38E62E266481}"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092C75-7980-4E38-AC74-1A97B7C09735}" type="slidenum">
              <a:rPr lang="en-US" smtClean="0"/>
              <a:t>‹#›</a:t>
            </a:fld>
            <a:endParaRPr lang="en-US"/>
          </a:p>
        </p:txBody>
      </p:sp>
    </p:spTree>
    <p:extLst>
      <p:ext uri="{BB962C8B-B14F-4D97-AF65-F5344CB8AC3E}">
        <p14:creationId xmlns:p14="http://schemas.microsoft.com/office/powerpoint/2010/main" val="3975464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9925-0F17-EC2F-C0AE-F955D5DB6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2E2DB-E91B-A892-AEA9-49466ACDF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C8ECF-4B46-3813-9F8F-FC30EEB65B80}"/>
              </a:ext>
            </a:extLst>
          </p:cNvPr>
          <p:cNvSpPr>
            <a:spLocks noGrp="1"/>
          </p:cNvSpPr>
          <p:nvPr>
            <p:ph type="body" idx="1"/>
          </p:nvPr>
        </p:nvSpPr>
        <p:spPr/>
        <p:txBody>
          <a:bodyPr/>
          <a:lstStyle/>
          <a:p>
            <a:r>
              <a:rPr lang="en-US" dirty="0"/>
              <a:t>Quicker </a:t>
            </a:r>
          </a:p>
          <a:p>
            <a:r>
              <a:rPr lang="en-US" dirty="0"/>
              <a:t>PR – define</a:t>
            </a:r>
            <a:br>
              <a:rPr lang="en-US" dirty="0"/>
            </a:br>
            <a:r>
              <a:rPr lang="en-US" dirty="0"/>
              <a:t>PR importance – related to CR, and often to diagnostic accuracy.  Pitfalls often include lack of prioritization of case information and incomplete or inaccurate illness scripts</a:t>
            </a:r>
            <a:br>
              <a:rPr lang="en-US" dirty="0"/>
            </a:br>
            <a:r>
              <a:rPr lang="en-US" dirty="0"/>
              <a:t>CR (includes PR) not universally taught in schools – research suggests that CR often not explicitly addressed in medical education instruction due to lack of curricular time</a:t>
            </a:r>
          </a:p>
          <a:p>
            <a:r>
              <a:rPr lang="en-US" dirty="0"/>
              <a:t>Given these constraints, finding time to explicitly teach CR, let alone develop tools resource to support and augment said instruction, may be scarce</a:t>
            </a:r>
          </a:p>
          <a:p>
            <a:endParaRPr lang="en-US" dirty="0"/>
          </a:p>
          <a:p>
            <a:r>
              <a:rPr lang="en-US" dirty="0"/>
              <a:t>Advances in AI/technology present an opportunity to leverage speed.  Tools designed to implement well thought out pedagogy/tasks can be designed and deployed in a fraction of the time it might have taken with humans alone, especially those without expertise in computer science/information technology</a:t>
            </a:r>
          </a:p>
          <a:p>
            <a:r>
              <a:rPr lang="en-US" dirty="0"/>
              <a:t>This shift allows users to optimize the valuable time they have by dedicating it to thought work, the important thinking and planning that elevates an educational tool from novel and interesting to effective for identified student outcomes.  For this purpose, AI can also be used, though not as an assistant, but rather as a thought partner. </a:t>
            </a:r>
          </a:p>
        </p:txBody>
      </p:sp>
      <p:sp>
        <p:nvSpPr>
          <p:cNvPr id="4" name="Slide Number Placeholder 3">
            <a:extLst>
              <a:ext uri="{FF2B5EF4-FFF2-40B4-BE49-F238E27FC236}">
                <a16:creationId xmlns:a16="http://schemas.microsoft.com/office/drawing/2014/main" id="{088C1B7A-9B27-780E-3EA6-58DDE45C2229}"/>
              </a:ext>
            </a:extLst>
          </p:cNvPr>
          <p:cNvSpPr>
            <a:spLocks noGrp="1"/>
          </p:cNvSpPr>
          <p:nvPr>
            <p:ph type="sldNum" sz="quarter" idx="5"/>
          </p:nvPr>
        </p:nvSpPr>
        <p:spPr/>
        <p:txBody>
          <a:bodyPr/>
          <a:lstStyle/>
          <a:p>
            <a:fld id="{2838106F-4F37-47DA-AE49-A77001780D97}" type="slidenum">
              <a:rPr lang="en-US" smtClean="0"/>
              <a:t>1</a:t>
            </a:fld>
            <a:endParaRPr lang="en-US"/>
          </a:p>
        </p:txBody>
      </p:sp>
    </p:spTree>
    <p:extLst>
      <p:ext uri="{BB962C8B-B14F-4D97-AF65-F5344CB8AC3E}">
        <p14:creationId xmlns:p14="http://schemas.microsoft.com/office/powerpoint/2010/main" val="2695195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spend a ton of time here</a:t>
            </a:r>
          </a:p>
        </p:txBody>
      </p:sp>
      <p:sp>
        <p:nvSpPr>
          <p:cNvPr id="4" name="Slide Number Placeholder 3"/>
          <p:cNvSpPr>
            <a:spLocks noGrp="1"/>
          </p:cNvSpPr>
          <p:nvPr>
            <p:ph type="sldNum" sz="quarter" idx="5"/>
          </p:nvPr>
        </p:nvSpPr>
        <p:spPr/>
        <p:txBody>
          <a:bodyPr/>
          <a:lstStyle/>
          <a:p>
            <a:fld id="{4E1A57A6-E078-41B6-B987-1B51D2A09912}" type="slidenum">
              <a:rPr lang="en-US" smtClean="0"/>
              <a:t>2</a:t>
            </a:fld>
            <a:endParaRPr lang="en-US"/>
          </a:p>
        </p:txBody>
      </p:sp>
    </p:spTree>
    <p:extLst>
      <p:ext uri="{BB962C8B-B14F-4D97-AF65-F5344CB8AC3E}">
        <p14:creationId xmlns:p14="http://schemas.microsoft.com/office/powerpoint/2010/main" val="1030664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in case</a:t>
            </a:r>
          </a:p>
        </p:txBody>
      </p:sp>
      <p:sp>
        <p:nvSpPr>
          <p:cNvPr id="4" name="Slide Number Placeholder 3"/>
          <p:cNvSpPr>
            <a:spLocks noGrp="1"/>
          </p:cNvSpPr>
          <p:nvPr>
            <p:ph type="sldNum" sz="quarter" idx="5"/>
          </p:nvPr>
        </p:nvSpPr>
        <p:spPr/>
        <p:txBody>
          <a:bodyPr/>
          <a:lstStyle/>
          <a:p>
            <a:fld id="{4E1A57A6-E078-41B6-B987-1B51D2A09912}" type="slidenum">
              <a:rPr lang="en-US" smtClean="0"/>
              <a:t>3</a:t>
            </a:fld>
            <a:endParaRPr lang="en-US"/>
          </a:p>
        </p:txBody>
      </p:sp>
    </p:spTree>
    <p:extLst>
      <p:ext uri="{BB962C8B-B14F-4D97-AF65-F5344CB8AC3E}">
        <p14:creationId xmlns:p14="http://schemas.microsoft.com/office/powerpoint/2010/main" val="2364698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1185-AFE4-A881-6584-F698B8FA8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F8106-ECA4-1A63-5C0D-67BAE94D5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A71D9-98C7-2E62-F600-5CB6DDEFA5EB}"/>
              </a:ext>
            </a:extLst>
          </p:cNvPr>
          <p:cNvSpPr>
            <a:spLocks noGrp="1"/>
          </p:cNvSpPr>
          <p:nvPr>
            <p:ph type="body" idx="1"/>
          </p:nvPr>
        </p:nvSpPr>
        <p:spPr/>
        <p:txBody>
          <a:bodyPr/>
          <a:lstStyle/>
          <a:p>
            <a:r>
              <a:rPr lang="en-US" dirty="0"/>
              <a:t>We started this process by consuming literature around PR and PR pedagogy, specifically the work of </a:t>
            </a:r>
            <a:r>
              <a:rPr lang="en-US" dirty="0" err="1"/>
              <a:t>Bordage</a:t>
            </a:r>
            <a:r>
              <a:rPr lang="en-US" dirty="0"/>
              <a:t> and McQuade.  We also drew heavily from meetings with subject matter experts who provided feedback to another Clinical Reasoning tool we developed, paying particular attention to their comments and recommendations related to PR. </a:t>
            </a:r>
          </a:p>
          <a:p>
            <a:r>
              <a:rPr lang="en-US" dirty="0"/>
              <a:t>We then began planning and developing applications.  What began initially as a categorization exercise (e.g., categorizing case information into one of McQuade’s three categories) slowly evolved over time to include prioritization of case information and PR composition.  After consulting with internal SMEs, we noted that the application was becoming too comprehensive, potentially jeopardizing usability.  We elected instead to explore a series of app variants that focused on more specific and granular tasks (e.g., prioritization, categorization).  We will model one such variant today. </a:t>
            </a:r>
          </a:p>
          <a:p>
            <a:r>
              <a:rPr lang="en-US" dirty="0"/>
              <a:t>The tasks within each variant were strategically aligned with literature and known pedagogy.  The app we will demo today is closely aligned with a Dr. Connor/Dr. </a:t>
            </a:r>
            <a:r>
              <a:rPr lang="en-US" dirty="0" err="1"/>
              <a:t>Dhaliwahl’s</a:t>
            </a:r>
            <a:r>
              <a:rPr lang="en-US" dirty="0"/>
              <a:t> recommendation to provide short, iterative feedback to an existing PR by prompting the user to enter a PR and provide immediate feedback on each attempt. The feedback is powered by AI (Anthropic – Sonnet).  </a:t>
            </a:r>
          </a:p>
        </p:txBody>
      </p:sp>
      <p:sp>
        <p:nvSpPr>
          <p:cNvPr id="4" name="Slide Number Placeholder 3">
            <a:extLst>
              <a:ext uri="{FF2B5EF4-FFF2-40B4-BE49-F238E27FC236}">
                <a16:creationId xmlns:a16="http://schemas.microsoft.com/office/drawing/2014/main" id="{617ABAE9-A7AD-4C28-1EBB-CFA4DD616BB5}"/>
              </a:ext>
            </a:extLst>
          </p:cNvPr>
          <p:cNvSpPr>
            <a:spLocks noGrp="1"/>
          </p:cNvSpPr>
          <p:nvPr>
            <p:ph type="sldNum" sz="quarter" idx="5"/>
          </p:nvPr>
        </p:nvSpPr>
        <p:spPr/>
        <p:txBody>
          <a:bodyPr/>
          <a:lstStyle/>
          <a:p>
            <a:fld id="{2838106F-4F37-47DA-AE49-A77001780D97}" type="slidenum">
              <a:rPr lang="en-US" smtClean="0"/>
              <a:t>4</a:t>
            </a:fld>
            <a:endParaRPr lang="en-US"/>
          </a:p>
        </p:txBody>
      </p:sp>
    </p:spTree>
    <p:extLst>
      <p:ext uri="{BB962C8B-B14F-4D97-AF65-F5344CB8AC3E}">
        <p14:creationId xmlns:p14="http://schemas.microsoft.com/office/powerpoint/2010/main" val="3632820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698D5-EF2F-B913-FA1A-28B89AA1E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7FA2D-B74A-49CE-C8AA-2259F0175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E5B79-2CD9-3752-3BE4-5DFE4720A6EF}"/>
              </a:ext>
            </a:extLst>
          </p:cNvPr>
          <p:cNvSpPr>
            <a:spLocks noGrp="1"/>
          </p:cNvSpPr>
          <p:nvPr>
            <p:ph type="body" idx="1"/>
          </p:nvPr>
        </p:nvSpPr>
        <p:spPr/>
        <p:txBody>
          <a:bodyPr/>
          <a:lstStyle/>
          <a:p>
            <a:r>
              <a:rPr lang="en-US" dirty="0"/>
              <a:t>AI gen cases not excellent – these have been evaluated informed by SMEs – subject matter experts (physician educators) (like yourselves )</a:t>
            </a:r>
            <a:br>
              <a:rPr lang="en-US" dirty="0"/>
            </a:br>
            <a:br>
              <a:rPr lang="en-US" dirty="0"/>
            </a:br>
            <a:r>
              <a:rPr lang="en-US" dirty="0"/>
              <a:t>We started this process by consuming literature around PR and PR pedagogy, specifically the work of </a:t>
            </a:r>
            <a:r>
              <a:rPr lang="en-US" dirty="0" err="1"/>
              <a:t>Bordage</a:t>
            </a:r>
            <a:r>
              <a:rPr lang="en-US" dirty="0"/>
              <a:t> and McQuade.  We also drew heavily from meetings with subject matter experts who provided feedback to another Clinical Reasoning tool we developed, paying particular attention to their comments and recommendations related to PR. </a:t>
            </a:r>
          </a:p>
          <a:p>
            <a:r>
              <a:rPr lang="en-US" dirty="0"/>
              <a:t>We then began planning and developing applications.  What began initially as a categorization exercise (e.g., categorizing case information into one of McQuade’s three categories) slowly evolved over time to include prioritization of case information and PR composition.  After consulting with internal SMEs, we noted that the application was becoming too comprehensive, potentially jeopardizing usability.  We elected instead to explore a series of app variants that focused on more specific and granular tasks (e.g., prioritization, categorization).  We will model one such variant today. </a:t>
            </a:r>
          </a:p>
          <a:p>
            <a:r>
              <a:rPr lang="en-US" dirty="0"/>
              <a:t>The tasks within each variant were strategically aligned with literature and known pedagogy.  The app we will demo today is closely aligned with a Dr. Connor/Dr. </a:t>
            </a:r>
            <a:r>
              <a:rPr lang="en-US" dirty="0" err="1"/>
              <a:t>Dhaliwahl’s</a:t>
            </a:r>
            <a:r>
              <a:rPr lang="en-US" dirty="0"/>
              <a:t> recommendation to provide short, iterative feedback to an existing PR by prompting the user to enter a PR and provide immediate feedback on each attempt. The feedback is powered by AI (Anthropic – Sonnet).  </a:t>
            </a:r>
          </a:p>
        </p:txBody>
      </p:sp>
      <p:sp>
        <p:nvSpPr>
          <p:cNvPr id="4" name="Slide Number Placeholder 3">
            <a:extLst>
              <a:ext uri="{FF2B5EF4-FFF2-40B4-BE49-F238E27FC236}">
                <a16:creationId xmlns:a16="http://schemas.microsoft.com/office/drawing/2014/main" id="{34E06EEB-435D-FC7C-788E-66652E75C04B}"/>
              </a:ext>
            </a:extLst>
          </p:cNvPr>
          <p:cNvSpPr>
            <a:spLocks noGrp="1"/>
          </p:cNvSpPr>
          <p:nvPr>
            <p:ph type="sldNum" sz="quarter" idx="5"/>
          </p:nvPr>
        </p:nvSpPr>
        <p:spPr/>
        <p:txBody>
          <a:bodyPr/>
          <a:lstStyle/>
          <a:p>
            <a:fld id="{2838106F-4F37-47DA-AE49-A77001780D97}" type="slidenum">
              <a:rPr lang="en-US" smtClean="0"/>
              <a:t>5</a:t>
            </a:fld>
            <a:endParaRPr lang="en-US"/>
          </a:p>
        </p:txBody>
      </p:sp>
    </p:spTree>
    <p:extLst>
      <p:ext uri="{BB962C8B-B14F-4D97-AF65-F5344CB8AC3E}">
        <p14:creationId xmlns:p14="http://schemas.microsoft.com/office/powerpoint/2010/main" val="2044831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5170F-08CB-190E-7FF6-F0ABDC32AA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695539-6B1D-8E36-D8C2-F9B0F98BDC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774874-8033-01C1-E88D-77F35B1EDFB1}"/>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13B2B2B4-C725-4FE9-7896-06D1D2B6A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D94F6-C6D6-C602-DCA8-41E172F7C3FF}"/>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3818871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77BB-7531-958A-8381-FF4AB05C54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290376-3547-DDB9-4CDC-DDB1EFD1AA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81475-033A-F604-BAF8-11CF86554612}"/>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1D268A2A-A704-33C7-CCD0-8AF3ABDE52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CC8FA-2D0B-40A3-A332-39BC9099C2BC}"/>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258960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9580-14B5-93CA-B164-9EFAA1C95A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71D8C7-730E-DF2B-C748-AB208BA819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B2688F-52C2-2B1E-64D4-C915A8573BA0}"/>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FFFB6ECD-FFDD-16DF-AB49-5C4142762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5C995-CCCB-0A09-343E-0D669AE8E366}"/>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2474080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F48A1-84F9-43D9-1F4B-F883944D12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DB0B92-5EC4-9EDF-250D-36C7374C5A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A4CC6E-97FE-EA6B-F6B4-0F6CE5885B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58F70C-C656-A9F0-4CA7-C1C069ABD3B5}"/>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6" name="Footer Placeholder 5">
            <a:extLst>
              <a:ext uri="{FF2B5EF4-FFF2-40B4-BE49-F238E27FC236}">
                <a16:creationId xmlns:a16="http://schemas.microsoft.com/office/drawing/2014/main" id="{E75E3C82-0212-13B5-88FD-C0B4483FF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1923A6-A1DC-9DA7-7D2E-AE8302B870ED}"/>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2500571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7AD7-1E28-19A2-1624-E604C47F7C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351BDA-9FF5-332C-8039-0766A8968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BF0B6B-4229-ABA5-5BB5-7E59BF3BF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9888B0-45E0-2D3C-1C9D-7A8EE93FF6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3E7072-0122-B20B-7B76-88DAF282B1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F87904-3ED0-4E72-269A-B8E0B50BE320}"/>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8" name="Footer Placeholder 7">
            <a:extLst>
              <a:ext uri="{FF2B5EF4-FFF2-40B4-BE49-F238E27FC236}">
                <a16:creationId xmlns:a16="http://schemas.microsoft.com/office/drawing/2014/main" id="{59DD7B8A-C32B-C95D-B14E-B6DBD7660B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516554-070C-D79D-E414-F21E0B159210}"/>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43555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9A87-8BAB-C053-580E-31081B4E4D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C8B637-8A7A-3B61-2A9B-B6039B836755}"/>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4" name="Footer Placeholder 3">
            <a:extLst>
              <a:ext uri="{FF2B5EF4-FFF2-40B4-BE49-F238E27FC236}">
                <a16:creationId xmlns:a16="http://schemas.microsoft.com/office/drawing/2014/main" id="{89B82AE6-1715-B1D1-2111-E095570A17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20246B-7784-71E5-0B59-A2A9B8FEE63D}"/>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418550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9331F-1633-9835-F4ED-78E26E6F3275}"/>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3" name="Footer Placeholder 2">
            <a:extLst>
              <a:ext uri="{FF2B5EF4-FFF2-40B4-BE49-F238E27FC236}">
                <a16:creationId xmlns:a16="http://schemas.microsoft.com/office/drawing/2014/main" id="{00A0E4FC-B33D-ACF4-3201-F2C3FFB4C8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17662-F648-F710-8C5C-828C98EA1E0D}"/>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2046639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7C338-64B2-3BB8-91FD-3A32E3D22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101D2-4C14-A61F-FCF6-7AF2239A0A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0E9F72-5DA6-3417-C96B-CA9F5E8E3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79B16B-7A5A-EB1D-B4FC-D5AD631F1FD4}"/>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6" name="Footer Placeholder 5">
            <a:extLst>
              <a:ext uri="{FF2B5EF4-FFF2-40B4-BE49-F238E27FC236}">
                <a16:creationId xmlns:a16="http://schemas.microsoft.com/office/drawing/2014/main" id="{80EE9B20-08E5-2177-9F44-11368881EB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F43FE1-A8F0-20A9-7679-34D30A84FC6E}"/>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876833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6478-07C1-9565-59C5-DA2E2AEF0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B8CA61-B8D6-E054-564C-4D12D0D186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C8A68D-56CE-EFB5-DCE9-5CE0E81FE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54822C-42D3-24BD-7695-BD31D121127F}"/>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6" name="Footer Placeholder 5">
            <a:extLst>
              <a:ext uri="{FF2B5EF4-FFF2-40B4-BE49-F238E27FC236}">
                <a16:creationId xmlns:a16="http://schemas.microsoft.com/office/drawing/2014/main" id="{607AFC20-3EF6-F2BE-2355-746B1395C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479DC2-EBC4-6D2B-CCA2-46A811D1BC7E}"/>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1124335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8554-153B-895C-7286-47A1D3FA2F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557D98-8038-8AED-B15A-997CEC07B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F9D78-F1D3-C638-C2CC-1CB9B71DAB2F}"/>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1C872042-5A15-2285-3C20-08C7917A69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618F5-294D-5EEF-DB3A-20A33B306AF8}"/>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122983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CE80B4-66F6-9545-B334-050866972A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E22AFD-24E6-F4F5-828F-29B6542DE1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7C25C-061B-EED4-818E-DFD688046FC4}"/>
              </a:ext>
            </a:extLst>
          </p:cNvPr>
          <p:cNvSpPr>
            <a:spLocks noGrp="1"/>
          </p:cNvSpPr>
          <p:nvPr>
            <p:ph type="dt" sz="half" idx="10"/>
          </p:nvPr>
        </p:nvSpPr>
        <p:spPr/>
        <p:txBody>
          <a:body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E2CFC750-BE0A-2B8B-1C2F-B61CA67017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2EFD4-5942-4248-AE3C-2B3DFD008147}"/>
              </a:ext>
            </a:extLst>
          </p:cNvPr>
          <p:cNvSpPr>
            <a:spLocks noGrp="1"/>
          </p:cNvSpPr>
          <p:nvPr>
            <p:ph type="sldNum" sz="quarter" idx="12"/>
          </p:nvPr>
        </p:nvSpPr>
        <p:spPr/>
        <p:txBody>
          <a:bodyPr/>
          <a:lstStyle/>
          <a:p>
            <a:fld id="{6C75A649-1B62-47D1-8C78-3C40923A75EA}" type="slidenum">
              <a:rPr lang="en-US" smtClean="0"/>
              <a:t>‹#›</a:t>
            </a:fld>
            <a:endParaRPr lang="en-US"/>
          </a:p>
        </p:txBody>
      </p:sp>
    </p:spTree>
    <p:extLst>
      <p:ext uri="{BB962C8B-B14F-4D97-AF65-F5344CB8AC3E}">
        <p14:creationId xmlns:p14="http://schemas.microsoft.com/office/powerpoint/2010/main" val="1714009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95A53E-6112-0639-3A7E-5515FDD66E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1673B9-D85F-9F0D-F148-57317CF237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791DC-40E8-3DC7-0CAE-07947F989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712CF0-6BE5-41E4-8D80-C05FD60D5E04}" type="datetimeFigureOut">
              <a:rPr lang="en-US" smtClean="0"/>
              <a:t>5/18/2026</a:t>
            </a:fld>
            <a:endParaRPr lang="en-US"/>
          </a:p>
        </p:txBody>
      </p:sp>
      <p:sp>
        <p:nvSpPr>
          <p:cNvPr id="5" name="Footer Placeholder 4">
            <a:extLst>
              <a:ext uri="{FF2B5EF4-FFF2-40B4-BE49-F238E27FC236}">
                <a16:creationId xmlns:a16="http://schemas.microsoft.com/office/drawing/2014/main" id="{83E6AF77-BBC8-57F0-D771-DDF54D028D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210236-D61E-AF50-F5F5-0F756DEB28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75A649-1B62-47D1-8C78-3C40923A75EA}" type="slidenum">
              <a:rPr lang="en-US" smtClean="0"/>
              <a:t>‹#›</a:t>
            </a:fld>
            <a:endParaRPr lang="en-US"/>
          </a:p>
        </p:txBody>
      </p:sp>
    </p:spTree>
    <p:extLst>
      <p:ext uri="{BB962C8B-B14F-4D97-AF65-F5344CB8AC3E}">
        <p14:creationId xmlns:p14="http://schemas.microsoft.com/office/powerpoint/2010/main" val="266181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9E9AA-6043-92BC-85D8-B099CC4FCEA8}"/>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B1A38927-1507-09F5-1929-D9ADD21DFCE1}"/>
              </a:ext>
            </a:extLst>
          </p:cNvPr>
          <p:cNvSpPr>
            <a:spLocks noGrp="1"/>
          </p:cNvSpPr>
          <p:nvPr>
            <p:ph type="title"/>
          </p:nvPr>
        </p:nvSpPr>
        <p:spPr>
          <a:xfrm>
            <a:off x="838200" y="81661"/>
            <a:ext cx="10515600" cy="1325563"/>
          </a:xfrm>
        </p:spPr>
        <p:txBody>
          <a:bodyPr/>
          <a:lstStyle/>
          <a:p>
            <a:r>
              <a:rPr lang="en-US" dirty="0"/>
              <a:t>Prompting</a:t>
            </a:r>
          </a:p>
        </p:txBody>
      </p:sp>
      <p:pic>
        <p:nvPicPr>
          <p:cNvPr id="5" name="Content Placeholder 4">
            <a:extLst>
              <a:ext uri="{FF2B5EF4-FFF2-40B4-BE49-F238E27FC236}">
                <a16:creationId xmlns:a16="http://schemas.microsoft.com/office/drawing/2014/main" id="{8AE31097-0FCA-B171-1D80-E0451389B6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81912" y="1013079"/>
            <a:ext cx="8343137" cy="5562092"/>
          </a:xfrm>
          <a:prstGeom prst="rect">
            <a:avLst/>
          </a:prstGeom>
          <a:ln>
            <a:solidFill>
              <a:srgbClr val="156082"/>
            </a:solidFill>
          </a:ln>
        </p:spPr>
      </p:pic>
    </p:spTree>
    <p:extLst>
      <p:ext uri="{BB962C8B-B14F-4D97-AF65-F5344CB8AC3E}">
        <p14:creationId xmlns:p14="http://schemas.microsoft.com/office/powerpoint/2010/main" val="183065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BA0233-FA03-4D96-7F16-52BFE72B8233}"/>
              </a:ext>
            </a:extLst>
          </p:cNvPr>
          <p:cNvSpPr>
            <a:spLocks noGrp="1"/>
          </p:cNvSpPr>
          <p:nvPr>
            <p:ph type="title"/>
          </p:nvPr>
        </p:nvSpPr>
        <p:spPr/>
        <p:txBody>
          <a:bodyPr/>
          <a:lstStyle/>
          <a:p>
            <a:r>
              <a:rPr lang="en-US" dirty="0"/>
              <a:t>App Development Required Tools</a:t>
            </a:r>
          </a:p>
        </p:txBody>
      </p:sp>
      <p:graphicFrame>
        <p:nvGraphicFramePr>
          <p:cNvPr id="7" name="Content Placeholder 6">
            <a:extLst>
              <a:ext uri="{FF2B5EF4-FFF2-40B4-BE49-F238E27FC236}">
                <a16:creationId xmlns:a16="http://schemas.microsoft.com/office/drawing/2014/main" id="{4FD2740E-90E2-0106-DB75-8A2C8183BA74}"/>
              </a:ext>
            </a:extLst>
          </p:cNvPr>
          <p:cNvGraphicFramePr>
            <a:graphicFrameLocks noGrp="1"/>
          </p:cNvGraphicFramePr>
          <p:nvPr>
            <p:ph idx="1"/>
          </p:nvPr>
        </p:nvGraphicFramePr>
        <p:xfrm>
          <a:off x="838200" y="1578737"/>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244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B47BBF-9BF7-1679-2944-A5DF0CD26609}"/>
              </a:ext>
            </a:extLst>
          </p:cNvPr>
          <p:cNvSpPr>
            <a:spLocks noGrp="1"/>
          </p:cNvSpPr>
          <p:nvPr>
            <p:ph type="title"/>
          </p:nvPr>
        </p:nvSpPr>
        <p:spPr/>
        <p:txBody>
          <a:bodyPr/>
          <a:lstStyle/>
          <a:p>
            <a:r>
              <a:rPr lang="en-US" dirty="0"/>
              <a:t>Shiny Web Application Framework</a:t>
            </a:r>
          </a:p>
        </p:txBody>
      </p:sp>
      <p:pic>
        <p:nvPicPr>
          <p:cNvPr id="8" name="GMT20251209-033254_Recording_as_1920x1080">
            <a:hlinkClick r:id="" action="ppaction://media"/>
            <a:extLst>
              <a:ext uri="{FF2B5EF4-FFF2-40B4-BE49-F238E27FC236}">
                <a16:creationId xmlns:a16="http://schemas.microsoft.com/office/drawing/2014/main" id="{D0C0F6C7-088B-DC1B-9E36-CDFC5EDC91C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362456" y="1339182"/>
            <a:ext cx="9217151" cy="5184530"/>
          </a:xfrm>
        </p:spPr>
      </p:pic>
    </p:spTree>
    <p:extLst>
      <p:ext uri="{BB962C8B-B14F-4D97-AF65-F5344CB8AC3E}">
        <p14:creationId xmlns:p14="http://schemas.microsoft.com/office/powerpoint/2010/main" val="262047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7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449A-B63E-7F5C-3C89-D85E13F3FF0E}"/>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9327EBD-9ABF-E61B-4915-9B674826F70C}"/>
              </a:ext>
            </a:extLst>
          </p:cNvPr>
          <p:cNvSpPr txBox="1"/>
          <p:nvPr/>
        </p:nvSpPr>
        <p:spPr>
          <a:xfrm>
            <a:off x="8927184" y="2545129"/>
            <a:ext cx="3158274" cy="830997"/>
          </a:xfrm>
          <a:prstGeom prst="rect">
            <a:avLst/>
          </a:prstGeom>
          <a:noFill/>
        </p:spPr>
        <p:txBody>
          <a:bodyPr wrap="square" rtlCol="0">
            <a:spAutoFit/>
          </a:bodyPr>
          <a:lstStyle/>
          <a:p>
            <a:r>
              <a:rPr lang="en-US" sz="1200" dirty="0"/>
              <a:t>Connor DM, Dhaliwal G. When less is more for the struggling clinical reasoner. </a:t>
            </a:r>
            <a:r>
              <a:rPr lang="en-US" sz="1200" i="1" dirty="0"/>
              <a:t>Diagnosis</a:t>
            </a:r>
            <a:r>
              <a:rPr lang="en-US" sz="1200" dirty="0"/>
              <a:t> (Berl). 2015;2(3):159–162. doi:10.1515/dx-2015-0014</a:t>
            </a:r>
          </a:p>
        </p:txBody>
      </p:sp>
      <p:graphicFrame>
        <p:nvGraphicFramePr>
          <p:cNvPr id="2" name="Table 1">
            <a:extLst>
              <a:ext uri="{FF2B5EF4-FFF2-40B4-BE49-F238E27FC236}">
                <a16:creationId xmlns:a16="http://schemas.microsoft.com/office/drawing/2014/main" id="{ECF0C71C-6102-DC3D-F7F7-E102F0F3B154}"/>
              </a:ext>
            </a:extLst>
          </p:cNvPr>
          <p:cNvGraphicFramePr>
            <a:graphicFrameLocks noGrp="1"/>
          </p:cNvGraphicFramePr>
          <p:nvPr/>
        </p:nvGraphicFramePr>
        <p:xfrm>
          <a:off x="372883" y="-1299"/>
          <a:ext cx="8128000" cy="66751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331308618"/>
                    </a:ext>
                  </a:extLst>
                </a:gridCol>
                <a:gridCol w="4064000">
                  <a:extLst>
                    <a:ext uri="{9D8B030D-6E8A-4147-A177-3AD203B41FA5}">
                      <a16:colId xmlns:a16="http://schemas.microsoft.com/office/drawing/2014/main" val="1000034957"/>
                    </a:ext>
                  </a:extLst>
                </a:gridCol>
              </a:tblGrid>
              <a:tr h="232667">
                <a:tc>
                  <a:txBody>
                    <a:bodyPr/>
                    <a:lstStyle/>
                    <a:p>
                      <a:r>
                        <a:rPr lang="en-US" dirty="0"/>
                        <a:t>Student</a:t>
                      </a:r>
                    </a:p>
                  </a:txBody>
                  <a:tcPr/>
                </a:tc>
                <a:tc>
                  <a:txBody>
                    <a:bodyPr/>
                    <a:lstStyle/>
                    <a:p>
                      <a:r>
                        <a:rPr lang="en-US" dirty="0"/>
                        <a:t>Clinical Reasoning Coach</a:t>
                      </a:r>
                    </a:p>
                  </a:txBody>
                  <a:tcPr/>
                </a:tc>
                <a:extLst>
                  <a:ext uri="{0D108BD9-81ED-4DB2-BD59-A6C34878D82A}">
                    <a16:rowId xmlns:a16="http://schemas.microsoft.com/office/drawing/2014/main" val="3960686856"/>
                  </a:ext>
                </a:extLst>
              </a:tr>
              <a:tr h="370840">
                <a:tc>
                  <a:txBody>
                    <a:bodyPr/>
                    <a:lstStyle/>
                    <a:p>
                      <a:r>
                        <a:rPr lang="en-US" dirty="0"/>
                        <a:t>This is a 55 year-old man with dyspnea</a:t>
                      </a:r>
                    </a:p>
                  </a:txBody>
                  <a:tcPr/>
                </a:tc>
                <a:tc>
                  <a:txBody>
                    <a:bodyPr/>
                    <a:lstStyle/>
                    <a:p>
                      <a:r>
                        <a:rPr lang="en-US" dirty="0"/>
                        <a:t>I agree that this patient’s main problem is dyspnea.  In your problem representation (PR), you want to add one or two key details about the patient’s past medical history (PMH) which frame how we should think about dyspnea.  Are there any problems that stand out in this patient’s PMH that impact the possible causes of his dyspnea?</a:t>
                      </a:r>
                    </a:p>
                  </a:txBody>
                  <a:tcPr/>
                </a:tc>
                <a:extLst>
                  <a:ext uri="{0D108BD9-81ED-4DB2-BD59-A6C34878D82A}">
                    <a16:rowId xmlns:a16="http://schemas.microsoft.com/office/drawing/2014/main" val="4127765566"/>
                  </a:ext>
                </a:extLst>
              </a:tr>
              <a:tr h="370840">
                <a:tc>
                  <a:txBody>
                    <a:bodyPr/>
                    <a:lstStyle/>
                    <a:p>
                      <a:r>
                        <a:rPr lang="en-US" dirty="0"/>
                        <a:t>I guess his HPV and his COPD are important.  And he has really severe gout.</a:t>
                      </a:r>
                    </a:p>
                  </a:txBody>
                  <a:tcPr/>
                </a:tc>
                <a:tc>
                  <a:txBody>
                    <a:bodyPr/>
                    <a:lstStyle/>
                    <a:p>
                      <a:r>
                        <a:rPr lang="en-US" dirty="0"/>
                        <a:t>I agree HIV and COPD shape how we think about the differential.  But do you think his gout changes your approach to his dyspnea? If not, you will want to leave that out.  Let’s try your PR again with the relevant information added.</a:t>
                      </a:r>
                    </a:p>
                  </a:txBody>
                  <a:tcPr/>
                </a:tc>
                <a:extLst>
                  <a:ext uri="{0D108BD9-81ED-4DB2-BD59-A6C34878D82A}">
                    <a16:rowId xmlns:a16="http://schemas.microsoft.com/office/drawing/2014/main" val="2878788919"/>
                  </a:ext>
                </a:extLst>
              </a:tr>
              <a:tr h="370840">
                <a:tc>
                  <a:txBody>
                    <a:bodyPr/>
                    <a:lstStyle/>
                    <a:p>
                      <a:r>
                        <a:rPr lang="en-US" dirty="0"/>
                        <a:t>This is a 55 year-old man with HIV and COPD presenting with dyspnea.</a:t>
                      </a:r>
                    </a:p>
                  </a:txBody>
                  <a:tcPr/>
                </a:tc>
                <a:tc>
                  <a:txBody>
                    <a:bodyPr/>
                    <a:lstStyle/>
                    <a:p>
                      <a:r>
                        <a:rPr lang="en-US" dirty="0"/>
                        <a:t>That’s better.  Now, are there any key features of his presentation that further define his dyspnea? For example, what was the time course? Was dyspnea associated with any other major symptoms?</a:t>
                      </a:r>
                    </a:p>
                  </a:txBody>
                  <a:tcPr/>
                </a:tc>
                <a:extLst>
                  <a:ext uri="{0D108BD9-81ED-4DB2-BD59-A6C34878D82A}">
                    <a16:rowId xmlns:a16="http://schemas.microsoft.com/office/drawing/2014/main" val="704910906"/>
                  </a:ext>
                </a:extLst>
              </a:tr>
            </a:tbl>
          </a:graphicData>
        </a:graphic>
      </p:graphicFrame>
    </p:spTree>
    <p:extLst>
      <p:ext uri="{BB962C8B-B14F-4D97-AF65-F5344CB8AC3E}">
        <p14:creationId xmlns:p14="http://schemas.microsoft.com/office/powerpoint/2010/main" val="200049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98363-C0EF-31CB-B21A-693FA207F98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83009BB-8B4A-8FF7-D2F2-E61B492F3805}"/>
              </a:ext>
            </a:extLst>
          </p:cNvPr>
          <p:cNvSpPr txBox="1"/>
          <p:nvPr/>
        </p:nvSpPr>
        <p:spPr>
          <a:xfrm>
            <a:off x="1743075" y="6212156"/>
            <a:ext cx="7648575" cy="646331"/>
          </a:xfrm>
          <a:prstGeom prst="rect">
            <a:avLst/>
          </a:prstGeom>
          <a:noFill/>
        </p:spPr>
        <p:txBody>
          <a:bodyPr wrap="square" rtlCol="0">
            <a:spAutoFit/>
          </a:bodyPr>
          <a:lstStyle/>
          <a:p>
            <a:pPr fontAlgn="t"/>
            <a:r>
              <a:rPr lang="en-US" sz="1200" dirty="0"/>
              <a:t>Runyon CR, Paniagua MA, Rosenthal FA, Veneziano AL, McNaughton L, Murray CT, Harik P. SHARP (</a:t>
            </a:r>
            <a:r>
              <a:rPr lang="en-US" sz="1200" dirty="0" err="1"/>
              <a:t>SHort</a:t>
            </a:r>
            <a:r>
              <a:rPr lang="en-US" sz="1200" dirty="0"/>
              <a:t> Answer, Rationale Provision): a new item format to assess clinical reasoning. </a:t>
            </a:r>
            <a:r>
              <a:rPr lang="en-US" sz="1200" i="1" dirty="0"/>
              <a:t>Acad Med.</a:t>
            </a:r>
            <a:r>
              <a:rPr lang="en-US" sz="1200" dirty="0"/>
              <a:t> 2024;99(9):976-980. doi:10.1097/ACM.0000000000005769</a:t>
            </a:r>
          </a:p>
        </p:txBody>
      </p:sp>
      <p:pic>
        <p:nvPicPr>
          <p:cNvPr id="3" name="Picture 2">
            <a:extLst>
              <a:ext uri="{FF2B5EF4-FFF2-40B4-BE49-F238E27FC236}">
                <a16:creationId xmlns:a16="http://schemas.microsoft.com/office/drawing/2014/main" id="{C7ED665C-C62E-2B78-FB67-A546C7253B7D}"/>
              </a:ext>
            </a:extLst>
          </p:cNvPr>
          <p:cNvPicPr>
            <a:picLocks noChangeAspect="1"/>
          </p:cNvPicPr>
          <p:nvPr/>
        </p:nvPicPr>
        <p:blipFill>
          <a:blip r:embed="rId3"/>
          <a:stretch>
            <a:fillRect/>
          </a:stretch>
        </p:blipFill>
        <p:spPr>
          <a:xfrm>
            <a:off x="1992085" y="184179"/>
            <a:ext cx="6705601" cy="5884362"/>
          </a:xfrm>
          <a:prstGeom prst="rect">
            <a:avLst/>
          </a:prstGeom>
        </p:spPr>
      </p:pic>
    </p:spTree>
    <p:extLst>
      <p:ext uri="{BB962C8B-B14F-4D97-AF65-F5344CB8AC3E}">
        <p14:creationId xmlns:p14="http://schemas.microsoft.com/office/powerpoint/2010/main" val="2246605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1002</Words>
  <Application>Microsoft Office PowerPoint</Application>
  <PresentationFormat>Widescreen</PresentationFormat>
  <Paragraphs>38</Paragraphs>
  <Slides>5</Slides>
  <Notes>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Prompting</vt:lpstr>
      <vt:lpstr>App Development Required Tools</vt:lpstr>
      <vt:lpstr>Shiny Web Application Framework</vt:lpstr>
      <vt:lpstr>PowerPoint Presentation</vt:lpstr>
      <vt:lpstr>PowerPoint Presentation</vt:lpstr>
    </vt:vector>
  </TitlesOfParts>
  <Company>NBME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Iaccarino</dc:creator>
  <cp:lastModifiedBy>Stephanie Iaccarino</cp:lastModifiedBy>
  <cp:revision>1</cp:revision>
  <dcterms:created xsi:type="dcterms:W3CDTF">2026-05-18T12:14:21Z</dcterms:created>
  <dcterms:modified xsi:type="dcterms:W3CDTF">2026-05-18T12:14:32Z</dcterms:modified>
</cp:coreProperties>
</file>